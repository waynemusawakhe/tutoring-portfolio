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 (billions)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2025 credential collection</c:v>
                  </c:pt>
                  <c:pt idx="1">
                    <c:v>National Public Data (2024)</c:v>
                  </c:pt>
                  <c:pt idx="2">
                    <c:v>People Data Labs</c:v>
                  </c:pt>
                  <c:pt idx="3">
                    <c:v>First American Financial</c:v>
                  </c:pt>
                  <c:pt idx="4">
                    <c:v>Exactis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2.9</c:v>
                </c:pt>
                <c:pt idx="2">
                  <c:v>1.2</c:v>
                </c:pt>
                <c:pt idx="3">
                  <c:v>0.885</c:v>
                </c:pt>
                <c:pt idx="4">
                  <c:v>0.34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1E6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Billions of records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9-1.png"/><Relationship Id="rId3" Type="http://schemas.openxmlformats.org/officeDocument/2006/relationships/image" Target="../media/image-19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/home/claude/deck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87096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UNIT 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Big Data Security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locked filing cabinets to billion-record breaches - how we protect the data behind every system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35-minute session  |  ITRI625  |  Based on Pfleeger, Security in Computing (5th Ed.), Ch. 7 + current threat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Unit 2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4248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/home/claude/deck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971" y="2117979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0136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database components and why databases need dedicated security controls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43600" y="169164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72200" y="1984248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0" name="Image 1" descr="/home/claude/deck/icons/shield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931" y="2117979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0" y="180136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CIA triad and the reliability/integrity requirements of a database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401568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4" name="Image 2" descr="/home/claude/deck/icons/ke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71" y="3535299"/>
            <a:ext cx="326898" cy="32689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21868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access control models (DAC, MAC, RBAC) and authentication techniques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43600" y="310896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72200" y="3401568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8" name="Image 3" descr="/home/claude/deck/icons/magnif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931" y="3535299"/>
            <a:ext cx="326898" cy="32689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321868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counter the inference problem in sensitive data disclosure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52628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7240" y="4818888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2" name="Image 4" descr="/home/claude/deck/icons/brai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971" y="4952619"/>
            <a:ext cx="326898" cy="32689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463600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security and privacy implications of data mining and Big Data (the 5 V's)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5943600" y="452628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172200" y="4818888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6" name="Image 5" descr="/home/claude/deck/icons/glob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931" y="4952619"/>
            <a:ext cx="326898" cy="32689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49440" y="463600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these concepts to real, recent breaches in South Africa and globally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Recap: What Is a Database?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organised collection of data, stored electronically, built for easy access, management and updating.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4505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= Database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81635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secured structure holding everything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8745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80560" y="24505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= Tables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81635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information (e.g. Students, Orders)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8745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83880" y="24505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= Records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83880" y="281635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rows with the actual data values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security: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3708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DBMS, schema, queries, indexes and metadata are all potential attack surfaces - every extra feature that makes data easy to use also creates a new way to misuse it.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Database Security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hold the organisation's most sensitive and mission-critical information - a breach rarely stays contained.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38528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/home/claude/deck/icons/moneyBil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2066087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26771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Fraud, theft, ransom payments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7373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1B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1938528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1" name="Image 1" descr="/home/claude/deck/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119" y="2066087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Reputational damage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212080" y="226771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customer &amp; partner trust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55280" y="17373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1B3A5C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1938528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6" name="Image 2" descr="/home/claude/deck/icons/sca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439" y="2066087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consequences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915400" y="226771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fines (e.g. POPIA, GDPR)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3429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CIA Triad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48640" y="397764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1" name="Image 3" descr="/home/claude/deck/icons/lo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" y="412165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977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325880" y="43159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authorised access to data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51960" y="397764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5" name="Image 4" descr="/home/claude/deck/icons/shieldLo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5978" y="4121658"/>
            <a:ext cx="352044" cy="3520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029200" y="3977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5029200" y="43159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remains accurate and unaltered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955280" y="397764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9" name="Image 5" descr="/home/claude/deck/icons/bol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9298" y="4121658"/>
            <a:ext cx="352044" cy="3520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732520" y="3977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8732520" y="43159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systems accessible when needed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548640" y="50749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142B4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22960" y="5285232"/>
            <a:ext cx="594360" cy="5943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4" name="Image 6" descr="/home/claude/deck/icons/glob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691" y="5418963"/>
            <a:ext cx="326898" cy="32689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600200" y="5193792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news: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 recorded 2,374 formally reported breaches in the 2024/25 financial year alone - roughly one every 3 hours - according to the Information Regulator and industry reporting (ITWeb, 2026).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of the Database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65960" y="146304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deck/icons/serv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0265" y="161734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860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Integrity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27432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data from hardware failure, disaster or physical tampering.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097280" y="3611880"/>
            <a:ext cx="2331720" cy="0"/>
          </a:xfrm>
          <a:prstGeom prst="line">
            <a:avLst/>
          </a:prstGeom>
          <a:noFill/>
          <a:ln w="12700">
            <a:solidFill>
              <a:srgbClr val="D6DC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703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RAID storage, redundant power supplies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51960" y="12344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146304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1" descr="/home/claude/deck/icons/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585" y="161734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22860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Integrity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80560" y="27432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stored data stays correct and valid as a whole.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800600" y="3611880"/>
            <a:ext cx="2331720" cy="0"/>
          </a:xfrm>
          <a:prstGeom prst="line">
            <a:avLst/>
          </a:prstGeom>
          <a:noFill/>
          <a:ln w="12700">
            <a:solidFill>
              <a:srgbClr val="D6DCE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480560" y="3703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blocking a transaction that creates a negative bank balance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955280" y="123444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372600" y="146304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9" name="Image 2" descr="/home/claude/deck/icon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6905" y="1617345"/>
            <a:ext cx="377190" cy="37719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38160" y="22860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Integrity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183880" y="27432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accuracy of each individual data value.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503920" y="3611880"/>
            <a:ext cx="2331720" cy="0"/>
          </a:xfrm>
          <a:prstGeom prst="line">
            <a:avLst/>
          </a:prstGeom>
          <a:noFill/>
          <a:ln w="12700">
            <a:solidFill>
              <a:srgbClr val="D6DCE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183880" y="3703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validation rules, ranges, primary/foreign key constraints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8640" y="434340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DECE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22960" y="457200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6" name="Image 3" descr="/home/claude/deck/icons/bu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" y="4716018"/>
            <a:ext cx="352044" cy="3520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4480560"/>
            <a:ext cx="9601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integrity protects against two things: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errors (typos, bad formats) and malicious alterations (tampering with records). Constraints like primary-key uniqueness and foreign-key relationships are the DBMS's first line of defence.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Auditability &amp; Access Control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53312"/>
            <a:ext cx="621792" cy="62179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/home/claude/deck/icons/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143" y="1493215"/>
            <a:ext cx="341986" cy="3419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28016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of who did what and when - supports accountability, regulatory compliance, and detection of suspicious activity.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Models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3035808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0358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6576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Access Control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41605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owner decides who gets access - flexible, but relies on good judgement.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51960" y="2834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80560" y="3035808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4480560" y="30358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480560" y="36576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Access Control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480560" y="41605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fixed by classification level (e.g. Confidential, Secret) - common in government/military systems.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5280" y="2834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83880" y="3035808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20" name="Text 17"/>
          <p:cNvSpPr/>
          <p:nvPr/>
        </p:nvSpPr>
        <p:spPr>
          <a:xfrm>
            <a:off x="8183880" y="30358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183880" y="36576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183880" y="41605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follow job role (e.g. 'Nurse', 'Billing Clerk') - the standard in most modern enterprise systems.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Availability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087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deck/icons/fingerprin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" y="165277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508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 user's identity before granting database access.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14400" y="306324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2971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361188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520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Biometrics (fingerprint, facial recognition)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14400" y="416052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4069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(MFA)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89320" y="12344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09360" y="150876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6" name="Image 1" descr="/home/claude/deck/icons/bo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378" y="1652778"/>
            <a:ext cx="352044" cy="3520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86600" y="1508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309360" y="23317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database services remain accessible when needed.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355080" y="3063240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0" name="Text 16"/>
          <p:cNvSpPr/>
          <p:nvPr/>
        </p:nvSpPr>
        <p:spPr>
          <a:xfrm>
            <a:off x="6629400" y="2971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&amp; failover systems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355080" y="3611880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18"/>
          <p:cNvSpPr/>
          <p:nvPr/>
        </p:nvSpPr>
        <p:spPr>
          <a:xfrm>
            <a:off x="6629400" y="3520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backups for recovery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355080" y="4160520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4" name="Text 20"/>
          <p:cNvSpPr/>
          <p:nvPr/>
        </p:nvSpPr>
        <p:spPr>
          <a:xfrm>
            <a:off x="6629400" y="4069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to prevent overload &amp; downtime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868680" y="489204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under attack: DDoS and ransomware both target this pillar directly - encrypting or flooding a database until it is unusable is now a routine extortion tactic.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&amp; OS Protection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doesn't stop at the DBMS - the operating system underneath is just as important.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50800" dist="25400" dir="5400000">
              <a:srgbClr val="9AA5B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01952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/home/claude/deck/icons/ba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" y="2045970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Protections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0" y="1783080"/>
            <a:ext cx="6446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unauthorised access to raw database files on disk.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50800" dist="25400" dir="5400000">
              <a:srgbClr val="9AA5B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136392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/home/claude/deck/icons/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58" y="3280410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0175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754880" y="3017520"/>
            <a:ext cx="6446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system processes for different roles, reducing insider risk.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50800" dist="25400" dir="5400000">
              <a:srgbClr val="9AA5B1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370832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/home/claude/deck/icons/ke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4514850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519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Permissions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754880" y="4251960"/>
            <a:ext cx="6446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read / write / execute rights to authorised accounts only.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this defence-in-depth protects the integrity and confidentiality of database files even if the DBMS itself is bypassed.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Integrity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Two-Phase Update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databases guarantee atomicity: either every change in a transaction happens, or none do.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937760" cy="2743200"/>
          </a:xfrm>
          <a:prstGeom prst="roundRect">
            <a:avLst>
              <a:gd name="adj" fmla="val 3333"/>
            </a:avLst>
          </a:prstGeom>
          <a:solidFill>
            <a:srgbClr val="1B3A5C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PREPARE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389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 affected data to prevent conflicts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a commit flag in the transaction log indicating pending changes</a:t>
            </a:r>
            <a:endParaRPr lang="en-US" sz="1300" dirty="0"/>
          </a:p>
        </p:txBody>
      </p:sp>
      <p:pic>
        <p:nvPicPr>
          <p:cNvPr id="7" name="Image 0" descr="/home/claude/deck/icons/arrowRight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971800"/>
            <a:ext cx="59436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37960" y="1828800"/>
            <a:ext cx="4937760" cy="2743200"/>
          </a:xfrm>
          <a:prstGeom prst="roundRect">
            <a:avLst>
              <a:gd name="adj" fmla="val 3333"/>
            </a:avLst>
          </a:prstGeom>
          <a:solidFill>
            <a:srgbClr val="1B3A5C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12280" y="2057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COMMIT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12280" y="2560320"/>
            <a:ext cx="4389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all intended changes to the database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 the commit flag from the log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4892040"/>
            <a:ext cx="10835640" cy="1280160"/>
          </a:xfrm>
          <a:prstGeom prst="roundRect">
            <a:avLst>
              <a:gd name="adj" fmla="val 5714"/>
            </a:avLst>
          </a:prstGeom>
          <a:solidFill>
            <a:srgbClr val="142B4D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502920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atomicity, prevents partial/corrupted updates after a mid-process failure, and keeps the database consistent - the same principle behind ACID transactions in modern databases.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Integrity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Redundancy, Recovery &amp; Concurrency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1732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deck/icons/lay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971" y="155105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63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29260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RAID storage tolerates disk failure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replication keeps copies in sync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51960" y="118872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80560" y="141732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0" name="Image 1" descr="/home/claude/deck/icons/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291" y="155105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463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26280" y="2194560"/>
            <a:ext cx="29260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 logs replay or roll back operations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Checkpoints create stable save points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Rollbacks undo incomplete/erroneous transactions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55280" y="118872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183880" y="141732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5" name="Image 2" descr="/home/claude/deck/icons/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611" y="1551051"/>
            <a:ext cx="326898" cy="3268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15400" y="1463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229600" y="2194560"/>
            <a:ext cx="29260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Locks manage simultaneous access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Timestamps order transactions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Optimistic control detects conflicts without constant locking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Integrity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Data 'Sensitive'?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isn't binary - it can arise in several different ways.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19072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/home/claude/deck/icons/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251" y="1852803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4592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Inherently sensitive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114800" y="164592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confidential by nature - e.g. ID numbers, banking PINs, passwords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EEF2F6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724912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/home/claude/deck/icons/datab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51" y="2858643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65176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source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114800" y="265176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from confidential systems - e.g. intelligence reports, patient medical records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730752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6" name="Image 2" descr="/home/claude/deck/icons/puzz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51" y="3864483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65760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 context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114800" y="365760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 alone, revealing when combined - e.g. birth date + postal code can uniquely identify someone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617720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EEF2F6"/>
          </a:solidFill>
          <a:ln/>
        </p:spPr>
      </p:sp>
      <p:sp>
        <p:nvSpPr>
          <p:cNvPr id="20" name="Shape 15"/>
          <p:cNvSpPr/>
          <p:nvPr/>
        </p:nvSpPr>
        <p:spPr>
          <a:xfrm>
            <a:off x="731520" y="4736592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1" name="Image 3" descr="/home/claude/deck/icons/clo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51" y="4870323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66344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sensitivity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114800" y="466344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 now, sensitive at a point in time - e.g. unreleased financial results, product launch dates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Disclosure &amp; Prevention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Inference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deduces sensitive information from data that isn't itself classified as sensitive - undermining security even when direct access is blocked.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29968" cy="3200400"/>
          </a:xfrm>
          <a:prstGeom prst="roundRect">
            <a:avLst>
              <a:gd name="adj" fmla="val 3604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192024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1289304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606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inference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Retrieving sensitive info outright via poor access control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61488" y="1691640"/>
            <a:ext cx="2029968" cy="3200400"/>
          </a:xfrm>
          <a:prstGeom prst="roundRect">
            <a:avLst>
              <a:gd name="adj" fmla="val 3604"/>
            </a:avLst>
          </a:prstGeom>
          <a:solidFill>
            <a:srgbClr val="1B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3502152" y="192024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71216" y="2606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98648" y="324612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many small, non-sensitive facts into a sensitive whole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74336" y="1691640"/>
            <a:ext cx="2029968" cy="3200400"/>
          </a:xfrm>
          <a:prstGeom prst="roundRect">
            <a:avLst>
              <a:gd name="adj" fmla="val 3604"/>
            </a:avLst>
          </a:prstGeom>
          <a:solidFill>
            <a:srgbClr val="1B3A5C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0" y="192024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84064" y="2606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11496" y="324612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Inferring meaning from the absence of expected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87184" y="1691640"/>
            <a:ext cx="2029968" cy="3200400"/>
          </a:xfrm>
          <a:prstGeom prst="roundRect">
            <a:avLst>
              <a:gd name="adj" fmla="val 3604"/>
            </a:avLst>
          </a:prstGeom>
          <a:solidFill>
            <a:srgbClr val="1B3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7927848" y="192024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792784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96912" y="2606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testing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24344" y="324612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Determining whether a record exists at all (e.g. 'does X have a criminal record?')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00032" y="1691640"/>
            <a:ext cx="2029968" cy="3200400"/>
          </a:xfrm>
          <a:prstGeom prst="roundRect">
            <a:avLst>
              <a:gd name="adj" fmla="val 3604"/>
            </a:avLst>
          </a:prstGeom>
          <a:solidFill>
            <a:srgbClr val="1B3A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40696" y="192024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10140696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09760" y="260604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inference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37192" y="324612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produces a highly accurate guess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42B4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23036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have repeatedly re-identified individuals in 'anonymised' datasets (health records, mobility data, location trails) by cross-referencing just a few quasi-identifiers - proving aggregation attacks are not theoretical.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Disclosure &amp; Prevention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for the Inference Problem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90472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deck/icons/ba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" y="1634490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17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Suppression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554480" y="1892808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rare or identifying query results so individuals can't be pinpointed.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080760" y="12344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1490472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0" name="Image 1" descr="/home/claude/deck/icons/puzz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378" y="1634490"/>
            <a:ext cx="352044" cy="352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417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Modification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086600" y="1892808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controlled statistical noise or swap values between records - preserves trends, hides identities.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2004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456432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5" name="Image 2" descr="/home/claude/deck/icons/magnif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3600450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383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Restrictions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554480" y="3858768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the number, type or complexity of queries a user can run.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80760" y="32004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09360" y="3456432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0" name="Image 3" descr="/home/claude/deck/icons/ey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378" y="3600450"/>
            <a:ext cx="352044" cy="3520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86600" y="3383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View-Based Access Control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086600" y="3858768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users restricted 'views' showing only aggregated, generalised or masked data.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Disclosure &amp; Prevention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vs. Precision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security often trades off protecting sensitive information against providing accurate, detailed data.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05740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/home/claude/deck/icons/shield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011" y="219113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848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Security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269748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less precision. E.g. census data is rounded or small categories are suppressed so exact household counts can't reveal identities.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37960" y="18288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EEF2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12280" y="205740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/home/claude/deck/icons/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011" y="219113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0848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Precision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812280" y="269748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more research/business value, but greater privacy risk if the data can be linked back to individuals.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5074920"/>
            <a:ext cx="10561320" cy="109728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97280" y="5193792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DBA's challenge: 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balance that meets both security requirements and legitimate user needs - there is rarely a single 'correct' answer.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Disclosure &amp; Prevention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Mining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large datasets with statistics &amp; machine learning to uncover hidden patterns, correlations, and trends.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196596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/home/claude/deck/icons/magnif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978" y="21099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unusual transactions signalling identity theft or card fraud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5196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196596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/home/claude/deck/icons/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98" y="210997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80560" y="31089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customers by behaviour to tailor marketing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72600" y="196596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6" name="Image 2" descr="/home/claude/deck/icons/cha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6618" y="210997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183880" y="31089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/ Amazon suggesting content based on past choices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10881360" cy="2057400"/>
          </a:xfrm>
          <a:prstGeom prst="roundRect">
            <a:avLst>
              <a:gd name="adj" fmla="val 3556"/>
            </a:avLst>
          </a:prstGeom>
          <a:solidFill>
            <a:srgbClr val="0B1F3A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implications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68680" y="4617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E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68680" y="49377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Intrusion detection - spotting anomalies in network activity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Fraud detection - flagging fraudulent transactions before damage occurs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126480" y="4617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126480" y="49377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 breaches - re-identifying people from 'anonymised' data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Insider misuse - authorised staff mining data beyond their role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Big Data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Data: The 5 V's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so large, fast and complex that traditional processing tools can't handle them effectively.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29968" cy="3383280"/>
          </a:xfrm>
          <a:prstGeom prst="roundRect">
            <a:avLst>
              <a:gd name="adj" fmla="val 3604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1197864" y="210312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1197864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quantity of data generated daily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61488" y="1828800"/>
            <a:ext cx="2029968" cy="3383280"/>
          </a:xfrm>
          <a:prstGeom prst="roundRect">
            <a:avLst>
              <a:gd name="adj" fmla="val 3604"/>
            </a:avLst>
          </a:prstGeom>
          <a:solidFill>
            <a:srgbClr val="1B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3410712" y="210312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52928" y="297180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898648" y="352044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creation &amp; processing, often real-time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74336" y="1828800"/>
            <a:ext cx="2029968" cy="3383280"/>
          </a:xfrm>
          <a:prstGeom prst="roundRect">
            <a:avLst>
              <a:gd name="adj" fmla="val 3604"/>
            </a:avLst>
          </a:prstGeom>
          <a:solidFill>
            <a:srgbClr val="1B3A5C"/>
          </a:solidFill>
          <a:ln/>
        </p:spPr>
      </p:sp>
      <p:sp>
        <p:nvSpPr>
          <p:cNvPr id="15" name="Shape 13"/>
          <p:cNvSpPr/>
          <p:nvPr/>
        </p:nvSpPr>
        <p:spPr>
          <a:xfrm>
            <a:off x="5623560" y="210312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62356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065776" y="297180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111496" y="352044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tables to unstructured text, images, video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87184" y="1828800"/>
            <a:ext cx="2029968" cy="3383280"/>
          </a:xfrm>
          <a:prstGeom prst="roundRect">
            <a:avLst>
              <a:gd name="adj" fmla="val 3604"/>
            </a:avLst>
          </a:prstGeom>
          <a:solidFill>
            <a:srgbClr val="1B3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7836408" y="210312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7836408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78624" y="297180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24344" y="352044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quality &amp; trustworthiness of the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00032" y="1828800"/>
            <a:ext cx="2029968" cy="3383280"/>
          </a:xfrm>
          <a:prstGeom prst="roundRect">
            <a:avLst>
              <a:gd name="adj" fmla="val 3604"/>
            </a:avLst>
          </a:prstGeom>
          <a:solidFill>
            <a:srgbClr val="1B3A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49256" y="210312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10049256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491472" y="297180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537192" y="352044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and business benefit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Big Data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Challenges in Big Data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44752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deck/icons/networ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" y="1588770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35331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in Distributed Clusters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54480" y="19659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only authorised users reach data spread across many servers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80760" y="118872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09360" y="1444752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0" name="Image 1" descr="/home/claude/deck/icons/shield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378" y="1588770"/>
            <a:ext cx="352044" cy="352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35331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 &amp; at Rest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086600" y="19659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sensitive information from interception or theft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593592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5" name="Image 2" descr="/home/claude/deck/icons/ey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3737610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50215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Analytics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554480" y="41148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analysis without exposing raw sensitive data (e.g. differential privacy)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080760" y="333756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09360" y="3593592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0" name="Image 3" descr="/home/claude/deck/icons/cloudBol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378" y="3737610"/>
            <a:ext cx="352044" cy="3520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86600" y="350215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Security Monitoring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086600" y="41148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&amp; responding to threats in high-speed, high-volume streams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Big Data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News: South Africa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security is not an abstract exercise - these incidents happened in the last 18 months.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/home/claude/deck/icons/ban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971" y="182537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77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Bank (2026)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exfiltrated roughly 1.2 TB of data, including client names, ID numbers, phone numbers and bank account details, then made some of it public - a stark illustration of confidentiality failure at Africa's largest bank.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51960" y="146304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1B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1691640"/>
            <a:ext cx="594360" cy="5943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1" name="Image 1" descr="/home/claude/deck/icons/build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291" y="182537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377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SA (Mar 2025)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80560" y="29260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ransomware group 'XP95' breached an HR database of job applicants, compromising 400,000+ files and demanding a ~R1.7m ransom - a direct hit on a government database's availability &amp; confidentiality.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146304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1B3A5C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1691640"/>
            <a:ext cx="594360" cy="5943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6" name="Image 2" descr="/home/claude/deck/icons/build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611" y="182537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2377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Golding Properties (2025)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83880" y="29260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access to a high-value client CRM database exposed contact details, personal identifiers and transaction histories - showing even niche industries hold data worth stealing.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4864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ITWeb (2026); Pinsent Masons / out-law.com (2025); teiss.co.uk (2026); Information Regulator SA reporting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in the News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News: Global Threats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1206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1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344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exposed by misconfigured / open databases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737360"/>
          <a:ext cx="4663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097280"/>
            <a:ext cx="5806440" cy="219456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/>
        </p:spPr>
      </p:sp>
      <p:sp>
        <p:nvSpPr>
          <p:cNvPr id="7" name="Shape 4"/>
          <p:cNvSpPr/>
          <p:nvPr/>
        </p:nvSpPr>
        <p:spPr>
          <a:xfrm>
            <a:off x="6080760" y="132588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8" name="Image 0" descr="/home/claude/deck/icons/glob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319" y="1453439"/>
            <a:ext cx="311810" cy="3118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12280" y="126187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Credential Crisis (Jun 2025)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080760" y="1965960"/>
            <a:ext cx="5349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billion login credentials found compiled online, mostly harvested by infostealer malware from personal and workplace devices - the largest credential exposure ever recorded (NordVPN, StationX).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852160" y="3474720"/>
            <a:ext cx="5806440" cy="219456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/>
        </p:spPr>
      </p:sp>
      <p:sp>
        <p:nvSpPr>
          <p:cNvPr id="12" name="Shape 8"/>
          <p:cNvSpPr/>
          <p:nvPr/>
        </p:nvSpPr>
        <p:spPr>
          <a:xfrm>
            <a:off x="6080760" y="370332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3" name="Image 1" descr="/home/claude/deck/icons/networ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319" y="3830879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363931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Qantas / Vendor Supply Chain (2025)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080760" y="4343400"/>
            <a:ext cx="5349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compromised a third-party customer service platform to reach 5.7m Qantas customer records - highlighting how vendor databases have become the weak link ('island-hopping').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852160" y="5852160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NordVPN (2026); StationX (2026); ProvenData (2025)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in the News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the Headlines Back to Theory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major breach traces back to one of the concepts covered in this unit.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621792" cy="621792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/home/claude/deck/icons/shield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423" y="1968703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6479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weak access control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0" y="1764792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DAC, MAC or RBAC enforced -&gt; anyone who finds the database can read it (open databases behind most mega-breaches)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EEF2F6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880360"/>
            <a:ext cx="621792" cy="621792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1" name="Image 1" descr="/home/claude/deck/icons/fingerprin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23" y="3020263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81635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authentication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029200" y="2816352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or reused credentials remain the #1 breach vector (Verizon DBIR 2025)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931920"/>
            <a:ext cx="621792" cy="621792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6" name="Image 2" descr="/home/claude/deck/icons/ey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" y="4071823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6791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auditability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029200" y="3867912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organisations take an average of 241 days to detect a breach - no monitoring layer on the database itself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846320"/>
            <a:ext cx="10881360" cy="896112"/>
          </a:xfrm>
          <a:prstGeom prst="roundRect">
            <a:avLst>
              <a:gd name="adj" fmla="val 7143"/>
            </a:avLst>
          </a:prstGeom>
          <a:solidFill>
            <a:srgbClr val="EEF2F6"/>
          </a:solidFill>
          <a:ln/>
        </p:spPr>
      </p:sp>
      <p:sp>
        <p:nvSpPr>
          <p:cNvPr id="20" name="Shape 15"/>
          <p:cNvSpPr/>
          <p:nvPr/>
        </p:nvSpPr>
        <p:spPr>
          <a:xfrm>
            <a:off x="731520" y="4983480"/>
            <a:ext cx="621792" cy="621792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1" name="Image 3" descr="/home/claude/deck/icons/networ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423" y="5123383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91947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/ vendor risk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029200" y="4919472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compromises (e.g. Qantas) show why every connected database is part of your attack surface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in the News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5547208" y="1463040"/>
            <a:ext cx="1097280" cy="10972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4" name="Image 0" descr="/home/claude/deck/icons/quest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4096" y="1709928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3464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61188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quick questions - play live as a Kahoot!-style quiz, or work through them as a class discussion.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352648" y="4434840"/>
            <a:ext cx="5486400" cy="82296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35528" y="44348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tip: recreate these 5 questions at kahoot.com (free account) for a live, gamified round with a leaderboard.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/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241280" y="41148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deck/icons/quest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5011" y="54521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part of the CIA triad is directly attacked when a ransomware group encrypts a hospital's patient database?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08760" y="27432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80760" y="265176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297180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040880" y="27432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06908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E7F7EF"/>
          </a:solidFill>
          <a:ln w="22225">
            <a:solidFill>
              <a:srgbClr val="2CA86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2CA86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508760" y="416052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00" dirty="0"/>
          </a:p>
        </p:txBody>
      </p:sp>
      <p:pic>
        <p:nvPicPr>
          <p:cNvPr id="19" name="Image 1" descr="/home/claude/deck/icons/check_2CA86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4480560"/>
            <a:ext cx="365760" cy="36576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080760" y="406908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438912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18"/>
          <p:cNvSpPr/>
          <p:nvPr/>
        </p:nvSpPr>
        <p:spPr>
          <a:xfrm>
            <a:off x="63093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040880" y="416052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48640" y="5623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highlighted for facilitator view - hide before presenting live.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/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241280" y="41148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deck/icons/quest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5011" y="54521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user can't query salaries directly, but repeatedly combines job title, department and bonus data to work out a colleague's exact salary. This is an example of: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08760" y="27432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inference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80760" y="265176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E7F7EF"/>
          </a:solidFill>
          <a:ln w="22225">
            <a:solidFill>
              <a:srgbClr val="2CA8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2971800"/>
            <a:ext cx="548640" cy="548640"/>
          </a:xfrm>
          <a:prstGeom prst="ellipse">
            <a:avLst/>
          </a:prstGeom>
          <a:solidFill>
            <a:srgbClr val="2CA86B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040880" y="27432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300" dirty="0"/>
          </a:p>
        </p:txBody>
      </p:sp>
      <p:pic>
        <p:nvPicPr>
          <p:cNvPr id="15" name="Image 1" descr="/home/claude/deck/icons/check_2CA86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063240"/>
            <a:ext cx="365760" cy="3657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" y="406908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508760" y="416052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testing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080760" y="406908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438912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18"/>
          <p:cNvSpPr/>
          <p:nvPr/>
        </p:nvSpPr>
        <p:spPr>
          <a:xfrm>
            <a:off x="63093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040880" y="416052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suppression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48640" y="5623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highlighted for facilitator view - hide before presenting live.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/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241280" y="41148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deck/icons/quest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5011" y="54521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access control model assigns permissions based on a person's job function (e.g. 'Billing Clerk')?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08760" y="27432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80760" y="265176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297180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040880" y="27432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06908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E7F7EF"/>
          </a:solidFill>
          <a:ln w="22225">
            <a:solidFill>
              <a:srgbClr val="2CA86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2CA86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508760" y="416052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300" dirty="0"/>
          </a:p>
        </p:txBody>
      </p:sp>
      <p:pic>
        <p:nvPicPr>
          <p:cNvPr id="19" name="Image 1" descr="/home/claude/deck/icons/check_2CA86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4480560"/>
            <a:ext cx="365760" cy="36576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080760" y="406908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438912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18"/>
          <p:cNvSpPr/>
          <p:nvPr/>
        </p:nvSpPr>
        <p:spPr>
          <a:xfrm>
            <a:off x="63093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040880" y="416052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48640" y="5623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highlighted for facilitator view - hide before presenting live.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/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241280" y="41148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deck/icons/quest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5011" y="54521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Two-Phase Update, what happens if a system fails during Phase 1 (Prepare)?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08760" y="27432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already permanent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80760" y="265176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E7F7EF"/>
          </a:solidFill>
          <a:ln w="22225">
            <a:solidFill>
              <a:srgbClr val="2CA8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2971800"/>
            <a:ext cx="548640" cy="548640"/>
          </a:xfrm>
          <a:prstGeom prst="ellipse">
            <a:avLst/>
          </a:prstGeom>
          <a:solidFill>
            <a:srgbClr val="2CA86B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040880" y="27432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is rolled back - nothing is applied</a:t>
            </a:r>
            <a:endParaRPr lang="en-US" sz="1300" dirty="0"/>
          </a:p>
        </p:txBody>
      </p:sp>
      <p:pic>
        <p:nvPicPr>
          <p:cNvPr id="15" name="Image 1" descr="/home/claude/deck/icons/check_2CA86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3063240"/>
            <a:ext cx="365760" cy="3657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" y="406908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508760" y="416052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half the data updates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080760" y="406908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438912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18"/>
          <p:cNvSpPr/>
          <p:nvPr/>
        </p:nvSpPr>
        <p:spPr>
          <a:xfrm>
            <a:off x="63093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040880" y="416052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 flag is ignored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48640" y="5623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highlighted for facilitator view - hide before presenting live.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/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241280" y="41148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deck/icons/quest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5011" y="54521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of the 5 V's of Big Data refers to the trustworthiness and accuracy of the data itself?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08760" y="27432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80760" y="265176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297180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040880" y="274320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06908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E7F7EF"/>
          </a:solidFill>
          <a:ln w="22225">
            <a:solidFill>
              <a:srgbClr val="2CA86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2CA86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508760" y="416052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Veracity</a:t>
            </a:r>
            <a:endParaRPr lang="en-US" sz="1300" dirty="0"/>
          </a:p>
        </p:txBody>
      </p:sp>
      <p:pic>
        <p:nvPicPr>
          <p:cNvPr id="19" name="Image 1" descr="/home/claude/deck/icons/check_2CA86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4480560"/>
            <a:ext cx="365760" cy="36576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080760" y="406908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438912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18"/>
          <p:cNvSpPr/>
          <p:nvPr/>
        </p:nvSpPr>
        <p:spPr>
          <a:xfrm>
            <a:off x="63093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040880" y="4160520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48640" y="5623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highlighted for facilitator view - hide before presenting live.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4" name="Image 0" descr="/home/claude/deck/icons/shield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361999"/>
            <a:ext cx="311810" cy="3118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161288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CIA triad (confidentiality, integrity, availability) frames every database security decision.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80760" y="1234440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7" name="Image 1" descr="/home/claude/deck/icons/ke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319" y="1361999"/>
            <a:ext cx="311810" cy="3118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12280" y="1161288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(DAC/MAC/RBAC) + authentication + auditability form the practical defence layer.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834640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0" name="Image 2" descr="/home/claude/deck/icons/lay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2962199"/>
            <a:ext cx="311810" cy="3118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761488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mechanisms (two-phase update, redundancy, recovery, concurrency) keep data trustworthy under failure.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080760" y="2834640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3" name="Image 3" descr="/home/claude/deck/icons/magnif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319" y="2962199"/>
            <a:ext cx="311810" cy="3118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12280" y="2761488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inference problem shows that hiding a field isn't enough - aggregation and context can still leak secrets.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548640" y="4434840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6" name="Image 4" descr="/home/claude/deck/icons/brai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99" y="4562399"/>
            <a:ext cx="311810" cy="31181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4361688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and Big Data (the 5 V's) multiply both the value and the risk of the data we hold.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6080760" y="4434840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9" name="Image 5" descr="/home/claude/deck/icons/glob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319" y="4562399"/>
            <a:ext cx="311810" cy="31181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12280" y="4361688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textbook abstractions - Standard Bank, Stats SA and a 16-billion-credential leak happened in the last 18 months.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8076895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ITRI625 - Study Unit 2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92024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3" name="Image 0" descr="/home/claude/deck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242" y="2146554"/>
            <a:ext cx="553212" cy="5532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Pfleeger &amp; Pfleeger, Security in Computing (5th Ed.), Ch. 7  |  ITWeb, Pinsent Masons, teiss.co.uk, NordVPN, StationX, ProvenData (2025-2026)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2026-08-04T20:17:27Z</dcterms:created>
  <dcterms:modified xsi:type="dcterms:W3CDTF">2026-08-04T20:17:27Z</dcterms:modified>
</cp:coreProperties>
</file>